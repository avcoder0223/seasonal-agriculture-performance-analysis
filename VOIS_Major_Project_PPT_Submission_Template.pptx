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 VERMA" userId="225fb047787e08b4" providerId="LiveId" clId="{92FADC9C-F1B3-4BE5-A24F-6800FD7095F2}"/>
    <pc:docChg chg="custSel modSld">
      <pc:chgData name="ABHISHEK VERMA" userId="225fb047787e08b4" providerId="LiveId" clId="{92FADC9C-F1B3-4BE5-A24F-6800FD7095F2}" dt="2026-09-05T18:35:52.203" v="6" actId="14100"/>
      <pc:docMkLst>
        <pc:docMk/>
      </pc:docMkLst>
      <pc:sldChg chg="addSp delSp modSp mod modClrScheme chgLayout">
        <pc:chgData name="ABHISHEK VERMA" userId="225fb047787e08b4" providerId="LiveId" clId="{92FADC9C-F1B3-4BE5-A24F-6800FD7095F2}" dt="2026-09-05T18:35:52.203" v="6" actId="14100"/>
        <pc:sldMkLst>
          <pc:docMk/>
          <pc:sldMk cId="3962802212" sldId="343"/>
        </pc:sldMkLst>
        <pc:spChg chg="add del mod ord">
          <ac:chgData name="ABHISHEK VERMA" userId="225fb047787e08b4" providerId="LiveId" clId="{92FADC9C-F1B3-4BE5-A24F-6800FD7095F2}" dt="2026-09-05T18:35:41.789" v="3"/>
          <ac:spMkLst>
            <pc:docMk/>
            <pc:sldMk cId="3962802212" sldId="343"/>
            <ac:spMk id="2" creationId="{67415E9F-E851-79D2-0FFF-995DFC5B28C1}"/>
          </ac:spMkLst>
        </pc:spChg>
        <pc:spChg chg="mod ord">
          <ac:chgData name="ABHISHEK VERMA" userId="225fb047787e08b4" providerId="LiveId" clId="{92FADC9C-F1B3-4BE5-A24F-6800FD7095F2}" dt="2026-09-05T18:34:16.859" v="1" actId="27636"/>
          <ac:spMkLst>
            <pc:docMk/>
            <pc:sldMk cId="3962802212" sldId="343"/>
            <ac:spMk id="4" creationId="{42B692F6-18B4-BC16-EA0C-48FFBD5621DF}"/>
          </ac:spMkLst>
        </pc:spChg>
        <pc:picChg chg="add mod ord">
          <ac:chgData name="ABHISHEK VERMA" userId="225fb047787e08b4" providerId="LiveId" clId="{92FADC9C-F1B3-4BE5-A24F-6800FD7095F2}" dt="2026-09-05T18:35:52.203" v="6" actId="14100"/>
          <ac:picMkLst>
            <pc:docMk/>
            <pc:sldMk cId="3962802212" sldId="343"/>
            <ac:picMk id="6" creationId="{1592384F-EB65-ED23-36DB-9A6A0AF8F3C2}"/>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00840" y="3588198"/>
            <a:ext cx="10209282" cy="861497"/>
          </a:xfrm>
        </p:spPr>
        <p:txBody>
          <a:bodyPr vert="horz" lIns="91440" tIns="45720" rIns="91440" bIns="45720" rtlCol="0" anchor="t">
            <a:normAutofit/>
          </a:bodyPr>
          <a:lstStyle/>
          <a:p>
            <a:r>
              <a:rPr lang="en-US" b="0" dirty="0">
                <a:solidFill>
                  <a:schemeClr val="tx1"/>
                </a:solidFill>
              </a:rPr>
              <a:t>[Student Name-ABHISHEK VERMA]</a:t>
            </a:r>
            <a:endParaRPr lang="en-IN" b="0" dirty="0">
              <a:solidFill>
                <a:schemeClr val="tx1"/>
              </a:solidFill>
            </a:endParaRPr>
          </a:p>
          <a:p>
            <a:r>
              <a:rPr lang="en-US" b="0" dirty="0">
                <a:solidFill>
                  <a:schemeClr val="tx1"/>
                </a:solidFill>
              </a:rPr>
              <a:t>[College Name-</a:t>
            </a:r>
            <a:r>
              <a:rPr lang="en-IN" b="0" dirty="0"/>
              <a:t>Dr. Ambedkar Institute of Technology for </a:t>
            </a:r>
            <a:r>
              <a:rPr lang="en-IN" b="0" dirty="0" err="1"/>
              <a:t>Divyangjan</a:t>
            </a:r>
            <a:r>
              <a:rPr lang="en-IN" b="0" dirty="0"/>
              <a:t> (</a:t>
            </a:r>
            <a:r>
              <a:rPr lang="en-IN" dirty="0"/>
              <a:t>A.I.T.D.</a:t>
            </a:r>
            <a:r>
              <a:rPr lang="en-IN" b="0" dirty="0"/>
              <a:t>)</a:t>
            </a:r>
            <a:r>
              <a:rPr lang="en-US" b="0" dirty="0">
                <a:solidFill>
                  <a:schemeClr val="tx1"/>
                </a:solidFill>
              </a:rPr>
              <a:t>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800840" y="2623598"/>
            <a:ext cx="8605595" cy="743448"/>
          </a:xfrm>
        </p:spPr>
        <p:txBody>
          <a:bodyPr>
            <a:normAutofit fontScale="90000"/>
          </a:bodyPr>
          <a:lstStyle/>
          <a:p>
            <a:r>
              <a:rPr lang="en-GB" sz="3200" dirty="0"/>
              <a:t>Project Title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800840" y="4670846"/>
            <a:ext cx="6094482" cy="369332"/>
          </a:xfrm>
          <a:prstGeom prst="rect">
            <a:avLst/>
          </a:prstGeom>
          <a:noFill/>
        </p:spPr>
        <p:txBody>
          <a:bodyPr wrap="square" rtlCol="0">
            <a:spAutoFit/>
          </a:bodyPr>
          <a:lstStyle/>
          <a:p>
            <a:r>
              <a:rPr lang="en-US" b="1" dirty="0"/>
              <a:t>AICTE STU ID :STU6a172d2d6d7a81779903789</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55000" lnSpcReduction="20000"/>
          </a:bodyPr>
          <a:lstStyle/>
          <a:p>
            <a:pPr marL="0" indent="0">
              <a:lnSpc>
                <a:spcPct val="150000"/>
              </a:lnSpc>
              <a:buNone/>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br>
              <a:rPr lang="en-US" dirty="0"/>
            </a:br>
            <a:br>
              <a:rPr lang="en-US" dirty="0"/>
            </a:br>
            <a:r>
              <a:rPr lang="en-IN" sz="2000" dirty="0"/>
              <a:t>. </a:t>
            </a: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IN" sz="2000" dirty="0"/>
              <a:t>This project analyses seasonal agricultural performance across Kharif, Rabi, and Zaid seasons using a 4,000-record farm dataset covering environmental conditions, farming inputs, and economic outcomes. It applies data cleaning, statistical testing, and visualization to uncover seasonal patterns and relationships, delivering data-driven recommendations for better agricultural planning.</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470684"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760682" y="0"/>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7" name="TextBox 6">
            <a:extLst>
              <a:ext uri="{FF2B5EF4-FFF2-40B4-BE49-F238E27FC236}">
                <a16:creationId xmlns:a16="http://schemas.microsoft.com/office/drawing/2014/main" id="{F7F7B9AE-CC8F-F708-4EA7-4F147C0576A7}"/>
              </a:ext>
            </a:extLst>
          </p:cNvPr>
          <p:cNvSpPr txBox="1"/>
          <p:nvPr/>
        </p:nvSpPr>
        <p:spPr>
          <a:xfrm>
            <a:off x="970504" y="1503922"/>
            <a:ext cx="4469243" cy="923330"/>
          </a:xfrm>
          <a:prstGeom prst="rect">
            <a:avLst/>
          </a:prstGeom>
          <a:noFill/>
        </p:spPr>
        <p:txBody>
          <a:bodyPr wrap="square" rtlCol="0">
            <a:spAutoFit/>
          </a:bodyPr>
          <a:lstStyle/>
          <a:p>
            <a:r>
              <a:rPr lang="en-IN" dirty="0"/>
              <a:t>Farmers, agricultural planners/advisors, </a:t>
            </a:r>
          </a:p>
          <a:p>
            <a:r>
              <a:rPr lang="en-IN" dirty="0"/>
              <a:t>government Agri-departments, Agri-tech companies and researchers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789709" y="166977"/>
            <a:ext cx="5306291" cy="847817"/>
          </a:xfrm>
        </p:spPr>
        <p:txBody>
          <a:bodyPr>
            <a:normAutofit/>
          </a:bodyPr>
          <a:lstStyle/>
          <a:p>
            <a:r>
              <a:rPr lang="en-US" dirty="0"/>
              <a:t>Technology Used</a:t>
            </a:r>
          </a:p>
        </p:txBody>
      </p:sp>
      <p:graphicFrame>
        <p:nvGraphicFramePr>
          <p:cNvPr id="3" name="Table 2">
            <a:extLst>
              <a:ext uri="{FF2B5EF4-FFF2-40B4-BE49-F238E27FC236}">
                <a16:creationId xmlns:a16="http://schemas.microsoft.com/office/drawing/2014/main" id="{C0447A60-9856-8CB8-5C43-7DBF9540FCE9}"/>
              </a:ext>
            </a:extLst>
          </p:cNvPr>
          <p:cNvGraphicFramePr>
            <a:graphicFrameLocks noGrp="1"/>
          </p:cNvGraphicFramePr>
          <p:nvPr>
            <p:extLst>
              <p:ext uri="{D42A27DB-BD31-4B8C-83A1-F6EECF244321}">
                <p14:modId xmlns:p14="http://schemas.microsoft.com/office/powerpoint/2010/main" val="1245151701"/>
              </p:ext>
            </p:extLst>
          </p:nvPr>
        </p:nvGraphicFramePr>
        <p:xfrm>
          <a:off x="914400" y="1014794"/>
          <a:ext cx="7464490" cy="2773680"/>
        </p:xfrm>
        <a:graphic>
          <a:graphicData uri="http://schemas.openxmlformats.org/drawingml/2006/table">
            <a:tbl>
              <a:tblPr>
                <a:tableStyleId>{6E25E649-3F16-4E02-A733-19D2CDBF48F0}</a:tableStyleId>
              </a:tblPr>
              <a:tblGrid>
                <a:gridCol w="3732245">
                  <a:extLst>
                    <a:ext uri="{9D8B030D-6E8A-4147-A177-3AD203B41FA5}">
                      <a16:colId xmlns:a16="http://schemas.microsoft.com/office/drawing/2014/main" val="2870906509"/>
                    </a:ext>
                  </a:extLst>
                </a:gridCol>
                <a:gridCol w="3732245">
                  <a:extLst>
                    <a:ext uri="{9D8B030D-6E8A-4147-A177-3AD203B41FA5}">
                      <a16:colId xmlns:a16="http://schemas.microsoft.com/office/drawing/2014/main" val="4263767923"/>
                    </a:ext>
                  </a:extLst>
                </a:gridCol>
              </a:tblGrid>
              <a:tr h="376453">
                <a:tc>
                  <a:txBody>
                    <a:bodyPr/>
                    <a:lstStyle/>
                    <a:p>
                      <a:pPr algn="l">
                        <a:buNone/>
                      </a:pPr>
                      <a:r>
                        <a:rPr lang="en-IN" dirty="0">
                          <a:effectLst/>
                        </a:rPr>
                        <a:t>Category</a:t>
                      </a:r>
                      <a:endParaRPr lang="en-IN" dirty="0">
                        <a:effectLst/>
                        <a:latin typeface="Arial" panose="020B0604020202020204" pitchFamily="34" charset="0"/>
                      </a:endParaRPr>
                    </a:p>
                  </a:txBody>
                  <a:tcPr marL="60960" marR="60960" marT="60960" marB="60960" anchor="ctr"/>
                </a:tc>
                <a:tc>
                  <a:txBody>
                    <a:bodyPr/>
                    <a:lstStyle/>
                    <a:p>
                      <a:pPr algn="l">
                        <a:buNone/>
                      </a:pPr>
                      <a:r>
                        <a:rPr lang="en-IN" dirty="0">
                          <a:effectLst/>
                        </a:rPr>
                        <a:t>Tools/Libraries</a:t>
                      </a:r>
                      <a:endParaRPr lang="en-IN" dirty="0">
                        <a:effectLst/>
                        <a:latin typeface="Arial" panose="020B0604020202020204" pitchFamily="34" charset="0"/>
                      </a:endParaRPr>
                    </a:p>
                  </a:txBody>
                  <a:tcPr marL="60960" marR="60960" marT="60960" marB="60960" anchor="ctr"/>
                </a:tc>
                <a:extLst>
                  <a:ext uri="{0D108BD9-81ED-4DB2-BD59-A6C34878D82A}">
                    <a16:rowId xmlns:a16="http://schemas.microsoft.com/office/drawing/2014/main" val="3212346644"/>
                  </a:ext>
                </a:extLst>
              </a:tr>
              <a:tr h="376453">
                <a:tc>
                  <a:txBody>
                    <a:bodyPr/>
                    <a:lstStyle/>
                    <a:p>
                      <a:pPr algn="l">
                        <a:buNone/>
                      </a:pPr>
                      <a:r>
                        <a:rPr lang="en-IN">
                          <a:effectLst/>
                        </a:rPr>
                        <a:t>Language</a:t>
                      </a:r>
                      <a:endParaRPr lang="en-IN">
                        <a:effectLst/>
                        <a:latin typeface="Arial" panose="020B0604020202020204" pitchFamily="34" charset="0"/>
                      </a:endParaRPr>
                    </a:p>
                  </a:txBody>
                  <a:tcPr marL="60960" marR="60960" marT="60960" marB="60960" anchor="ctr"/>
                </a:tc>
                <a:tc>
                  <a:txBody>
                    <a:bodyPr/>
                    <a:lstStyle/>
                    <a:p>
                      <a:pPr algn="l">
                        <a:buNone/>
                      </a:pPr>
                      <a:r>
                        <a:rPr lang="en-IN">
                          <a:effectLst/>
                        </a:rPr>
                        <a:t>Python</a:t>
                      </a:r>
                      <a:endParaRPr lang="en-IN">
                        <a:effectLst/>
                        <a:latin typeface="Arial" panose="020B0604020202020204" pitchFamily="34" charset="0"/>
                      </a:endParaRPr>
                    </a:p>
                  </a:txBody>
                  <a:tcPr marL="60960" marR="60960" marT="60960" marB="60960" anchor="ctr"/>
                </a:tc>
                <a:extLst>
                  <a:ext uri="{0D108BD9-81ED-4DB2-BD59-A6C34878D82A}">
                    <a16:rowId xmlns:a16="http://schemas.microsoft.com/office/drawing/2014/main" val="3511983138"/>
                  </a:ext>
                </a:extLst>
              </a:tr>
              <a:tr h="376453">
                <a:tc>
                  <a:txBody>
                    <a:bodyPr/>
                    <a:lstStyle/>
                    <a:p>
                      <a:pPr algn="l">
                        <a:buNone/>
                      </a:pPr>
                      <a:r>
                        <a:rPr lang="en-IN" dirty="0">
                          <a:effectLst/>
                        </a:rPr>
                        <a:t>Data handling</a:t>
                      </a:r>
                      <a:endParaRPr lang="en-IN" dirty="0">
                        <a:effectLst/>
                        <a:latin typeface="Arial" panose="020B0604020202020204" pitchFamily="34" charset="0"/>
                      </a:endParaRPr>
                    </a:p>
                  </a:txBody>
                  <a:tcPr marL="60960" marR="60960" marT="60960" marB="60960" anchor="ctr"/>
                </a:tc>
                <a:tc>
                  <a:txBody>
                    <a:bodyPr/>
                    <a:lstStyle/>
                    <a:p>
                      <a:pPr algn="l">
                        <a:buNone/>
                      </a:pPr>
                      <a:r>
                        <a:rPr lang="en-IN">
                          <a:effectLst/>
                        </a:rPr>
                        <a:t>Pandas, NumPy</a:t>
                      </a:r>
                      <a:endParaRPr lang="en-IN">
                        <a:effectLst/>
                        <a:latin typeface="Arial" panose="020B0604020202020204" pitchFamily="34" charset="0"/>
                      </a:endParaRPr>
                    </a:p>
                  </a:txBody>
                  <a:tcPr marL="60960" marR="60960" marT="60960" marB="60960" anchor="ctr"/>
                </a:tc>
                <a:extLst>
                  <a:ext uri="{0D108BD9-81ED-4DB2-BD59-A6C34878D82A}">
                    <a16:rowId xmlns:a16="http://schemas.microsoft.com/office/drawing/2014/main" val="3796720233"/>
                  </a:ext>
                </a:extLst>
              </a:tr>
              <a:tr h="376453">
                <a:tc>
                  <a:txBody>
                    <a:bodyPr/>
                    <a:lstStyle/>
                    <a:p>
                      <a:pPr algn="l">
                        <a:buNone/>
                      </a:pPr>
                      <a:r>
                        <a:rPr lang="en-IN">
                          <a:effectLst/>
                        </a:rPr>
                        <a:t>Visualization</a:t>
                      </a:r>
                      <a:endParaRPr lang="en-IN">
                        <a:effectLst/>
                        <a:latin typeface="Arial" panose="020B0604020202020204" pitchFamily="34" charset="0"/>
                      </a:endParaRPr>
                    </a:p>
                  </a:txBody>
                  <a:tcPr marL="60960" marR="60960" marT="60960" marB="60960" anchor="ctr"/>
                </a:tc>
                <a:tc>
                  <a:txBody>
                    <a:bodyPr/>
                    <a:lstStyle/>
                    <a:p>
                      <a:pPr algn="l">
                        <a:buNone/>
                      </a:pPr>
                      <a:r>
                        <a:rPr lang="en-IN">
                          <a:effectLst/>
                        </a:rPr>
                        <a:t>Matplotlib, Seaborn</a:t>
                      </a:r>
                      <a:endParaRPr lang="en-IN">
                        <a:effectLst/>
                        <a:latin typeface="Arial" panose="020B0604020202020204" pitchFamily="34" charset="0"/>
                      </a:endParaRPr>
                    </a:p>
                  </a:txBody>
                  <a:tcPr marL="60960" marR="60960" marT="60960" marB="60960" anchor="ctr"/>
                </a:tc>
                <a:extLst>
                  <a:ext uri="{0D108BD9-81ED-4DB2-BD59-A6C34878D82A}">
                    <a16:rowId xmlns:a16="http://schemas.microsoft.com/office/drawing/2014/main" val="1977055318"/>
                  </a:ext>
                </a:extLst>
              </a:tr>
              <a:tr h="376453">
                <a:tc>
                  <a:txBody>
                    <a:bodyPr/>
                    <a:lstStyle/>
                    <a:p>
                      <a:pPr algn="l">
                        <a:buNone/>
                      </a:pPr>
                      <a:r>
                        <a:rPr lang="en-IN">
                          <a:effectLst/>
                        </a:rPr>
                        <a:t>Statistical analysis</a:t>
                      </a:r>
                      <a:endParaRPr lang="en-IN">
                        <a:effectLst/>
                        <a:latin typeface="Arial" panose="020B0604020202020204" pitchFamily="34" charset="0"/>
                      </a:endParaRPr>
                    </a:p>
                  </a:txBody>
                  <a:tcPr marL="60960" marR="60960" marT="60960" marB="60960" anchor="ctr"/>
                </a:tc>
                <a:tc>
                  <a:txBody>
                    <a:bodyPr/>
                    <a:lstStyle/>
                    <a:p>
                      <a:pPr algn="l">
                        <a:buNone/>
                      </a:pPr>
                      <a:r>
                        <a:rPr lang="en-IN">
                          <a:effectLst/>
                        </a:rPr>
                        <a:t>SciPy (ANOVA, Chi-square tests)</a:t>
                      </a:r>
                      <a:endParaRPr lang="en-IN">
                        <a:effectLst/>
                        <a:latin typeface="Arial" panose="020B0604020202020204" pitchFamily="34" charset="0"/>
                      </a:endParaRPr>
                    </a:p>
                  </a:txBody>
                  <a:tcPr marL="60960" marR="60960" marT="60960" marB="60960" anchor="ctr"/>
                </a:tc>
                <a:extLst>
                  <a:ext uri="{0D108BD9-81ED-4DB2-BD59-A6C34878D82A}">
                    <a16:rowId xmlns:a16="http://schemas.microsoft.com/office/drawing/2014/main" val="3774503513"/>
                  </a:ext>
                </a:extLst>
              </a:tr>
              <a:tr h="376453">
                <a:tc>
                  <a:txBody>
                    <a:bodyPr/>
                    <a:lstStyle/>
                    <a:p>
                      <a:pPr algn="l">
                        <a:buNone/>
                      </a:pPr>
                      <a:r>
                        <a:rPr lang="en-IN">
                          <a:effectLst/>
                        </a:rPr>
                        <a:t>Environment</a:t>
                      </a:r>
                      <a:endParaRPr lang="en-IN">
                        <a:effectLst/>
                        <a:latin typeface="Arial" panose="020B0604020202020204" pitchFamily="34" charset="0"/>
                      </a:endParaRPr>
                    </a:p>
                  </a:txBody>
                  <a:tcPr marL="60960" marR="60960" marT="60960" marB="60960" anchor="ctr"/>
                </a:tc>
                <a:tc>
                  <a:txBody>
                    <a:bodyPr/>
                    <a:lstStyle/>
                    <a:p>
                      <a:pPr algn="l">
                        <a:buNone/>
                      </a:pPr>
                      <a:r>
                        <a:rPr lang="en-IN">
                          <a:effectLst/>
                        </a:rPr>
                        <a:t>Jupyter Notebook (Google Colab)</a:t>
                      </a:r>
                      <a:endParaRPr lang="en-IN">
                        <a:effectLst/>
                        <a:latin typeface="Arial" panose="020B0604020202020204" pitchFamily="34" charset="0"/>
                      </a:endParaRPr>
                    </a:p>
                  </a:txBody>
                  <a:tcPr marL="60960" marR="60960" marT="60960" marB="60960" anchor="ctr"/>
                </a:tc>
                <a:extLst>
                  <a:ext uri="{0D108BD9-81ED-4DB2-BD59-A6C34878D82A}">
                    <a16:rowId xmlns:a16="http://schemas.microsoft.com/office/drawing/2014/main" val="2744235560"/>
                  </a:ext>
                </a:extLst>
              </a:tr>
              <a:tr h="376453">
                <a:tc>
                  <a:txBody>
                    <a:bodyPr/>
                    <a:lstStyle/>
                    <a:p>
                      <a:pPr algn="l">
                        <a:buNone/>
                      </a:pPr>
                      <a:r>
                        <a:rPr lang="en-IN">
                          <a:effectLst/>
                        </a:rPr>
                        <a:t>Version control</a:t>
                      </a:r>
                      <a:endParaRPr lang="en-IN">
                        <a:effectLst/>
                        <a:latin typeface="Arial" panose="020B0604020202020204" pitchFamily="34" charset="0"/>
                      </a:endParaRPr>
                    </a:p>
                  </a:txBody>
                  <a:tcPr marL="60960" marR="60960" marT="60960" marB="60960" anchor="ctr"/>
                </a:tc>
                <a:tc>
                  <a:txBody>
                    <a:bodyPr/>
                    <a:lstStyle/>
                    <a:p>
                      <a:pPr algn="l">
                        <a:buNone/>
                      </a:pPr>
                      <a:r>
                        <a:rPr lang="en-IN" dirty="0">
                          <a:effectLst/>
                        </a:rPr>
                        <a:t>Git, GitHub</a:t>
                      </a:r>
                      <a:endParaRPr lang="en-IN" dirty="0">
                        <a:effectLst/>
                        <a:latin typeface="Arial" panose="020B0604020202020204" pitchFamily="34" charset="0"/>
                      </a:endParaRPr>
                    </a:p>
                  </a:txBody>
                  <a:tcPr marL="60960" marR="60960" marT="60960" marB="60960" anchor="ctr"/>
                </a:tc>
                <a:extLst>
                  <a:ext uri="{0D108BD9-81ED-4DB2-BD59-A6C34878D82A}">
                    <a16:rowId xmlns:a16="http://schemas.microsoft.com/office/drawing/2014/main" val="4179457582"/>
                  </a:ext>
                </a:extLst>
              </a:tr>
            </a:tbl>
          </a:graphicData>
        </a:graphic>
      </p:graphicFrame>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81513" y="1036611"/>
            <a:ext cx="4275138" cy="477520"/>
          </a:xfrm>
        </p:spPr>
        <p:txBody>
          <a:bodyPr vert="horz" lIns="91440" tIns="45720" rIns="91440" bIns="45720" rtlCol="0" anchor="t">
            <a:normAutofit/>
          </a:bodyPr>
          <a:lstStyle/>
          <a:p>
            <a:pPr marL="0" indent="0">
              <a:buNone/>
            </a:pPr>
            <a:r>
              <a:rPr lang="en-US" dirty="0"/>
              <a:t>[Screen shots of code ]</a:t>
            </a:r>
            <a:endParaRPr lang="en-IN" dirty="0"/>
          </a:p>
        </p:txBody>
      </p:sp>
      <p:pic>
        <p:nvPicPr>
          <p:cNvPr id="9" name="Picture 8">
            <a:extLst>
              <a:ext uri="{FF2B5EF4-FFF2-40B4-BE49-F238E27FC236}">
                <a16:creationId xmlns:a16="http://schemas.microsoft.com/office/drawing/2014/main" id="{4B6CB6E2-5459-9EED-02CA-06EE49B70E01}"/>
              </a:ext>
            </a:extLst>
          </p:cNvPr>
          <p:cNvPicPr>
            <a:picLocks noChangeAspect="1"/>
          </p:cNvPicPr>
          <p:nvPr/>
        </p:nvPicPr>
        <p:blipFill>
          <a:blip r:embed="rId3"/>
          <a:stretch>
            <a:fillRect/>
          </a:stretch>
        </p:blipFill>
        <p:spPr>
          <a:xfrm>
            <a:off x="158620" y="1440346"/>
            <a:ext cx="7610669" cy="2403866"/>
          </a:xfrm>
          <a:prstGeom prst="rect">
            <a:avLst/>
          </a:prstGeom>
        </p:spPr>
      </p:pic>
      <p:pic>
        <p:nvPicPr>
          <p:cNvPr id="12" name="Picture 11">
            <a:extLst>
              <a:ext uri="{FF2B5EF4-FFF2-40B4-BE49-F238E27FC236}">
                <a16:creationId xmlns:a16="http://schemas.microsoft.com/office/drawing/2014/main" id="{9BAEC743-7A2C-30EA-A0D4-8EB40C71BBAA}"/>
              </a:ext>
            </a:extLst>
          </p:cNvPr>
          <p:cNvPicPr>
            <a:picLocks noChangeAspect="1"/>
          </p:cNvPicPr>
          <p:nvPr/>
        </p:nvPicPr>
        <p:blipFill>
          <a:blip r:embed="rId4"/>
          <a:stretch>
            <a:fillRect/>
          </a:stretch>
        </p:blipFill>
        <p:spPr>
          <a:xfrm>
            <a:off x="158619" y="3766650"/>
            <a:ext cx="7610669" cy="2979381"/>
          </a:xfrm>
          <a:prstGeom prst="rect">
            <a:avLst/>
          </a:prstGeom>
        </p:spPr>
      </p:pic>
      <p:pic>
        <p:nvPicPr>
          <p:cNvPr id="14" name="Picture 13">
            <a:extLst>
              <a:ext uri="{FF2B5EF4-FFF2-40B4-BE49-F238E27FC236}">
                <a16:creationId xmlns:a16="http://schemas.microsoft.com/office/drawing/2014/main" id="{646E861B-F0D3-AA69-2570-9FD59A73E6BA}"/>
              </a:ext>
            </a:extLst>
          </p:cNvPr>
          <p:cNvPicPr>
            <a:picLocks noChangeAspect="1"/>
          </p:cNvPicPr>
          <p:nvPr/>
        </p:nvPicPr>
        <p:blipFill>
          <a:blip r:embed="rId5"/>
          <a:stretch>
            <a:fillRect/>
          </a:stretch>
        </p:blipFill>
        <p:spPr>
          <a:xfrm>
            <a:off x="7769288" y="1514131"/>
            <a:ext cx="4303024" cy="52319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81513" y="1130890"/>
            <a:ext cx="4275138" cy="477520"/>
          </a:xfrm>
        </p:spPr>
        <p:txBody>
          <a:bodyPr/>
          <a:lstStyle/>
          <a:p>
            <a:pPr marL="0" indent="0">
              <a:buNone/>
            </a:pPr>
            <a:r>
              <a:rPr lang="en-US" dirty="0"/>
              <a:t>[screen shots of code ]</a:t>
            </a:r>
            <a:endParaRPr lang="en-IN" dirty="0"/>
          </a:p>
        </p:txBody>
      </p:sp>
      <p:pic>
        <p:nvPicPr>
          <p:cNvPr id="3" name="Picture 2">
            <a:extLst>
              <a:ext uri="{FF2B5EF4-FFF2-40B4-BE49-F238E27FC236}">
                <a16:creationId xmlns:a16="http://schemas.microsoft.com/office/drawing/2014/main" id="{DC3D0518-9589-E5E3-7DA3-BE54A3156AEA}"/>
              </a:ext>
            </a:extLst>
          </p:cNvPr>
          <p:cNvPicPr>
            <a:picLocks noChangeAspect="1"/>
          </p:cNvPicPr>
          <p:nvPr/>
        </p:nvPicPr>
        <p:blipFill>
          <a:blip r:embed="rId3"/>
          <a:stretch>
            <a:fillRect/>
          </a:stretch>
        </p:blipFill>
        <p:spPr>
          <a:xfrm>
            <a:off x="675957" y="1559313"/>
            <a:ext cx="5701004" cy="3739373"/>
          </a:xfrm>
          <a:prstGeom prst="rect">
            <a:avLst/>
          </a:prstGeom>
        </p:spPr>
      </p:pic>
      <p:pic>
        <p:nvPicPr>
          <p:cNvPr id="9" name="Picture 8">
            <a:extLst>
              <a:ext uri="{FF2B5EF4-FFF2-40B4-BE49-F238E27FC236}">
                <a16:creationId xmlns:a16="http://schemas.microsoft.com/office/drawing/2014/main" id="{60CE7C06-99B5-7E1C-8BF9-3E3E2C7033C9}"/>
              </a:ext>
            </a:extLst>
          </p:cNvPr>
          <p:cNvPicPr>
            <a:picLocks noChangeAspect="1"/>
          </p:cNvPicPr>
          <p:nvPr/>
        </p:nvPicPr>
        <p:blipFill>
          <a:blip r:embed="rId4"/>
          <a:stretch>
            <a:fillRect/>
          </a:stretch>
        </p:blipFill>
        <p:spPr>
          <a:xfrm>
            <a:off x="675956" y="5298686"/>
            <a:ext cx="5701003" cy="88129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788502" y="1036611"/>
            <a:ext cx="4275138" cy="477520"/>
          </a:xfrm>
        </p:spPr>
        <p:txBody>
          <a:bodyPr/>
          <a:lstStyle/>
          <a:p>
            <a:pPr marL="0" indent="0">
              <a:buNone/>
            </a:pPr>
            <a:r>
              <a:rPr lang="en-US" dirty="0"/>
              <a:t>[Screen shots of code ]</a:t>
            </a:r>
            <a:endParaRPr lang="en-IN" dirty="0"/>
          </a:p>
        </p:txBody>
      </p:sp>
      <p:pic>
        <p:nvPicPr>
          <p:cNvPr id="3" name="Picture 2">
            <a:extLst>
              <a:ext uri="{FF2B5EF4-FFF2-40B4-BE49-F238E27FC236}">
                <a16:creationId xmlns:a16="http://schemas.microsoft.com/office/drawing/2014/main" id="{7A316E0A-2DE8-4010-931E-38ABE6E6F446}"/>
              </a:ext>
            </a:extLst>
          </p:cNvPr>
          <p:cNvPicPr>
            <a:picLocks noChangeAspect="1"/>
          </p:cNvPicPr>
          <p:nvPr/>
        </p:nvPicPr>
        <p:blipFill>
          <a:blip r:embed="rId3"/>
          <a:stretch>
            <a:fillRect/>
          </a:stretch>
        </p:blipFill>
        <p:spPr>
          <a:xfrm>
            <a:off x="0" y="1440346"/>
            <a:ext cx="6994849" cy="2952105"/>
          </a:xfrm>
          <a:prstGeom prst="rect">
            <a:avLst/>
          </a:prstGeom>
        </p:spPr>
      </p:pic>
      <p:pic>
        <p:nvPicPr>
          <p:cNvPr id="9" name="Picture 8">
            <a:extLst>
              <a:ext uri="{FF2B5EF4-FFF2-40B4-BE49-F238E27FC236}">
                <a16:creationId xmlns:a16="http://schemas.microsoft.com/office/drawing/2014/main" id="{0D69DEA8-F770-87C8-A886-99F627547FF8}"/>
              </a:ext>
            </a:extLst>
          </p:cNvPr>
          <p:cNvPicPr>
            <a:picLocks noChangeAspect="1"/>
          </p:cNvPicPr>
          <p:nvPr/>
        </p:nvPicPr>
        <p:blipFill>
          <a:blip r:embed="rId4"/>
          <a:stretch>
            <a:fillRect/>
          </a:stretch>
        </p:blipFill>
        <p:spPr>
          <a:xfrm>
            <a:off x="6994849" y="553767"/>
            <a:ext cx="4337767" cy="3838684"/>
          </a:xfrm>
          <a:prstGeom prst="rect">
            <a:avLst/>
          </a:prstGeom>
        </p:spPr>
      </p:pic>
      <p:pic>
        <p:nvPicPr>
          <p:cNvPr id="12" name="Picture 11">
            <a:extLst>
              <a:ext uri="{FF2B5EF4-FFF2-40B4-BE49-F238E27FC236}">
                <a16:creationId xmlns:a16="http://schemas.microsoft.com/office/drawing/2014/main" id="{34C1164C-6CDC-202E-0F2E-AD06BF1C7EEE}"/>
              </a:ext>
            </a:extLst>
          </p:cNvPr>
          <p:cNvPicPr>
            <a:picLocks noChangeAspect="1"/>
          </p:cNvPicPr>
          <p:nvPr/>
        </p:nvPicPr>
        <p:blipFill>
          <a:blip r:embed="rId5"/>
          <a:stretch>
            <a:fillRect/>
          </a:stretch>
        </p:blipFill>
        <p:spPr>
          <a:xfrm>
            <a:off x="7024703" y="4392451"/>
            <a:ext cx="3802710" cy="172989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C9861CA1-FA86-6249-24DA-B7D27ECC5EF7}"/>
              </a:ext>
            </a:extLst>
          </p:cNvPr>
          <p:cNvPicPr>
            <a:picLocks noChangeAspect="1"/>
          </p:cNvPicPr>
          <p:nvPr/>
        </p:nvPicPr>
        <p:blipFill>
          <a:blip r:embed="rId3"/>
          <a:stretch>
            <a:fillRect/>
          </a:stretch>
        </p:blipFill>
        <p:spPr>
          <a:xfrm>
            <a:off x="286138" y="1201586"/>
            <a:ext cx="9622971" cy="2872133"/>
          </a:xfrm>
          <a:prstGeom prst="rect">
            <a:avLst/>
          </a:prstGeom>
        </p:spPr>
      </p:pic>
      <p:pic>
        <p:nvPicPr>
          <p:cNvPr id="9" name="Picture 8">
            <a:extLst>
              <a:ext uri="{FF2B5EF4-FFF2-40B4-BE49-F238E27FC236}">
                <a16:creationId xmlns:a16="http://schemas.microsoft.com/office/drawing/2014/main" id="{7F583572-5F57-F50C-FEC1-DFC2ED07675C}"/>
              </a:ext>
            </a:extLst>
          </p:cNvPr>
          <p:cNvPicPr>
            <a:picLocks noChangeAspect="1"/>
          </p:cNvPicPr>
          <p:nvPr/>
        </p:nvPicPr>
        <p:blipFill>
          <a:blip r:embed="rId4"/>
          <a:stretch>
            <a:fillRect/>
          </a:stretch>
        </p:blipFill>
        <p:spPr>
          <a:xfrm>
            <a:off x="320982" y="4073719"/>
            <a:ext cx="9595070" cy="234522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3D410868-B171-8897-9C7C-9D48E7D24E43}"/>
              </a:ext>
            </a:extLst>
          </p:cNvPr>
          <p:cNvPicPr>
            <a:picLocks noChangeAspect="1"/>
          </p:cNvPicPr>
          <p:nvPr/>
        </p:nvPicPr>
        <p:blipFill>
          <a:blip r:embed="rId3"/>
          <a:stretch>
            <a:fillRect/>
          </a:stretch>
        </p:blipFill>
        <p:spPr>
          <a:xfrm>
            <a:off x="320982" y="1201586"/>
            <a:ext cx="9794033" cy="3743269"/>
          </a:xfrm>
          <a:prstGeom prst="rect">
            <a:avLst/>
          </a:prstGeom>
        </p:spPr>
      </p:pic>
      <p:pic>
        <p:nvPicPr>
          <p:cNvPr id="9" name="Picture 8">
            <a:extLst>
              <a:ext uri="{FF2B5EF4-FFF2-40B4-BE49-F238E27FC236}">
                <a16:creationId xmlns:a16="http://schemas.microsoft.com/office/drawing/2014/main" id="{C077C26F-B3A8-0DD4-68A5-40D0F76F37FD}"/>
              </a:ext>
            </a:extLst>
          </p:cNvPr>
          <p:cNvPicPr>
            <a:picLocks noChangeAspect="1"/>
          </p:cNvPicPr>
          <p:nvPr/>
        </p:nvPicPr>
        <p:blipFill>
          <a:blip r:embed="rId4"/>
          <a:stretch>
            <a:fillRect/>
          </a:stretch>
        </p:blipFill>
        <p:spPr>
          <a:xfrm>
            <a:off x="597160" y="4944855"/>
            <a:ext cx="9517855" cy="182416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0656D-077E-A91F-DC11-0548309EB3E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DD4F2D-3087-0FF7-0D7B-7A687CE567A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95238E5-2492-CFC6-7028-510A343C9061}"/>
              </a:ext>
            </a:extLst>
          </p:cNvPr>
          <p:cNvSpPr>
            <a:spLocks noGrp="1"/>
          </p:cNvSpPr>
          <p:nvPr>
            <p:ph type="title"/>
          </p:nvPr>
        </p:nvSpPr>
        <p:spPr>
          <a:xfrm>
            <a:off x="682900" y="549555"/>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6AB645E-84ED-5D13-B700-6965C5A392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AEAE81A-07D5-67AC-461F-6FF3C250C49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0FC37A52-C299-7E3C-193D-D7040CA52075}"/>
              </a:ext>
            </a:extLst>
          </p:cNvPr>
          <p:cNvSpPr>
            <a:spLocks noGrp="1"/>
          </p:cNvSpPr>
          <p:nvPr>
            <p:ph type="body" sz="quarter" idx="12"/>
          </p:nvPr>
        </p:nvSpPr>
        <p:spPr>
          <a:xfrm>
            <a:off x="1638849" y="2057752"/>
            <a:ext cx="4275138" cy="477520"/>
          </a:xfrm>
        </p:spPr>
        <p:txBody>
          <a:bodyPr/>
          <a:lstStyle/>
          <a:p>
            <a:pPr marL="0" indent="0">
              <a:buNone/>
            </a:pPr>
            <a:endParaRPr lang="en-IN" dirty="0"/>
          </a:p>
        </p:txBody>
      </p:sp>
      <p:pic>
        <p:nvPicPr>
          <p:cNvPr id="6" name="Picture 5">
            <a:extLst>
              <a:ext uri="{FF2B5EF4-FFF2-40B4-BE49-F238E27FC236}">
                <a16:creationId xmlns:a16="http://schemas.microsoft.com/office/drawing/2014/main" id="{F5FDA0BA-6236-8BC8-FE7B-8E736B15636E}"/>
              </a:ext>
            </a:extLst>
          </p:cNvPr>
          <p:cNvPicPr>
            <a:picLocks noChangeAspect="1"/>
          </p:cNvPicPr>
          <p:nvPr/>
        </p:nvPicPr>
        <p:blipFill>
          <a:blip r:embed="rId3"/>
          <a:stretch>
            <a:fillRect/>
          </a:stretch>
        </p:blipFill>
        <p:spPr>
          <a:xfrm>
            <a:off x="443138" y="1670453"/>
            <a:ext cx="10941698" cy="3097192"/>
          </a:xfrm>
          <a:prstGeom prst="rect">
            <a:avLst/>
          </a:prstGeom>
        </p:spPr>
      </p:pic>
      <p:pic>
        <p:nvPicPr>
          <p:cNvPr id="12" name="Picture 11">
            <a:extLst>
              <a:ext uri="{FF2B5EF4-FFF2-40B4-BE49-F238E27FC236}">
                <a16:creationId xmlns:a16="http://schemas.microsoft.com/office/drawing/2014/main" id="{E769866E-7805-0FDD-550F-44E079B4219A}"/>
              </a:ext>
            </a:extLst>
          </p:cNvPr>
          <p:cNvPicPr>
            <a:picLocks noChangeAspect="1"/>
          </p:cNvPicPr>
          <p:nvPr/>
        </p:nvPicPr>
        <p:blipFill>
          <a:blip r:embed="rId4"/>
          <a:stretch>
            <a:fillRect/>
          </a:stretch>
        </p:blipFill>
        <p:spPr>
          <a:xfrm>
            <a:off x="443138" y="4739332"/>
            <a:ext cx="10941698" cy="1925628"/>
          </a:xfrm>
          <a:prstGeom prst="rect">
            <a:avLst/>
          </a:prstGeom>
        </p:spPr>
      </p:pic>
    </p:spTree>
    <p:extLst>
      <p:ext uri="{BB962C8B-B14F-4D97-AF65-F5344CB8AC3E}">
        <p14:creationId xmlns:p14="http://schemas.microsoft.com/office/powerpoint/2010/main" val="395053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0356D-6A11-5936-A0D9-D6BF4791581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5A1178A-0409-4500-F58D-DA683B00797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CF031A1-478E-0784-A88C-DCA1EFD1CC9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59A0911-2957-4D98-76C3-DFDDFC34D57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DF52CA3-687C-81CE-C456-13F13301FC5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ED803C55-DD01-3D2E-55B9-C39CBEB5F18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DB6FF3F0-0A1E-8BF3-A5B7-2720E8337350}"/>
              </a:ext>
            </a:extLst>
          </p:cNvPr>
          <p:cNvPicPr>
            <a:picLocks noChangeAspect="1"/>
          </p:cNvPicPr>
          <p:nvPr/>
        </p:nvPicPr>
        <p:blipFill>
          <a:blip r:embed="rId3"/>
          <a:stretch>
            <a:fillRect/>
          </a:stretch>
        </p:blipFill>
        <p:spPr>
          <a:xfrm>
            <a:off x="320982" y="1201586"/>
            <a:ext cx="9794033" cy="3743269"/>
          </a:xfrm>
          <a:prstGeom prst="rect">
            <a:avLst/>
          </a:prstGeom>
        </p:spPr>
      </p:pic>
      <p:pic>
        <p:nvPicPr>
          <p:cNvPr id="9" name="Picture 8">
            <a:extLst>
              <a:ext uri="{FF2B5EF4-FFF2-40B4-BE49-F238E27FC236}">
                <a16:creationId xmlns:a16="http://schemas.microsoft.com/office/drawing/2014/main" id="{87211B1E-D7DF-559B-76B1-D10D67B6F19E}"/>
              </a:ext>
            </a:extLst>
          </p:cNvPr>
          <p:cNvPicPr>
            <a:picLocks noChangeAspect="1"/>
          </p:cNvPicPr>
          <p:nvPr/>
        </p:nvPicPr>
        <p:blipFill>
          <a:blip r:embed="rId4"/>
          <a:stretch>
            <a:fillRect/>
          </a:stretch>
        </p:blipFill>
        <p:spPr>
          <a:xfrm>
            <a:off x="597160" y="4944855"/>
            <a:ext cx="9517855" cy="1824160"/>
          </a:xfrm>
          <a:prstGeom prst="rect">
            <a:avLst/>
          </a:prstGeom>
        </p:spPr>
      </p:pic>
    </p:spTree>
    <p:extLst>
      <p:ext uri="{BB962C8B-B14F-4D97-AF65-F5344CB8AC3E}">
        <p14:creationId xmlns:p14="http://schemas.microsoft.com/office/powerpoint/2010/main" val="2673315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E5830-CA84-3FF5-ADF0-E3021D800D4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F5DCF75-240B-ED8F-9B78-8222CA9D7C4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17722D5-8143-B39C-F4E1-EB622FB789B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EF8ADE9-F147-08FE-B849-E3D000E7149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4413082-2545-4BA5-D763-59032FB1152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98F4A6A-1F0A-126B-C3DA-F7D782D82DAB}"/>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12" name="Picture 11">
            <a:extLst>
              <a:ext uri="{FF2B5EF4-FFF2-40B4-BE49-F238E27FC236}">
                <a16:creationId xmlns:a16="http://schemas.microsoft.com/office/drawing/2014/main" id="{E4431FC9-B512-ACCF-22FF-36F58E20D7EF}"/>
              </a:ext>
            </a:extLst>
          </p:cNvPr>
          <p:cNvPicPr>
            <a:picLocks noChangeAspect="1"/>
          </p:cNvPicPr>
          <p:nvPr/>
        </p:nvPicPr>
        <p:blipFill>
          <a:blip r:embed="rId3"/>
          <a:stretch>
            <a:fillRect/>
          </a:stretch>
        </p:blipFill>
        <p:spPr>
          <a:xfrm>
            <a:off x="534425" y="1201587"/>
            <a:ext cx="10432684" cy="2484006"/>
          </a:xfrm>
          <a:prstGeom prst="rect">
            <a:avLst/>
          </a:prstGeom>
        </p:spPr>
      </p:pic>
      <p:pic>
        <p:nvPicPr>
          <p:cNvPr id="14" name="Picture 13">
            <a:extLst>
              <a:ext uri="{FF2B5EF4-FFF2-40B4-BE49-F238E27FC236}">
                <a16:creationId xmlns:a16="http://schemas.microsoft.com/office/drawing/2014/main" id="{3D7D7BF3-32CA-6ACB-0500-8E16A7A60F85}"/>
              </a:ext>
            </a:extLst>
          </p:cNvPr>
          <p:cNvPicPr>
            <a:picLocks noChangeAspect="1"/>
          </p:cNvPicPr>
          <p:nvPr/>
        </p:nvPicPr>
        <p:blipFill>
          <a:blip r:embed="rId4"/>
          <a:stretch>
            <a:fillRect/>
          </a:stretch>
        </p:blipFill>
        <p:spPr>
          <a:xfrm>
            <a:off x="534424" y="3685594"/>
            <a:ext cx="10432683" cy="2801818"/>
          </a:xfrm>
          <a:prstGeom prst="rect">
            <a:avLst/>
          </a:prstGeom>
        </p:spPr>
      </p:pic>
    </p:spTree>
    <p:extLst>
      <p:ext uri="{BB962C8B-B14F-4D97-AF65-F5344CB8AC3E}">
        <p14:creationId xmlns:p14="http://schemas.microsoft.com/office/powerpoint/2010/main" val="3691115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A3A7BCCA-0E2B-092D-3220-91979D2D04C4}"/>
              </a:ext>
            </a:extLst>
          </p:cNvPr>
          <p:cNvSpPr txBox="1"/>
          <p:nvPr/>
        </p:nvSpPr>
        <p:spPr>
          <a:xfrm>
            <a:off x="675957" y="1239078"/>
            <a:ext cx="8533357" cy="1754326"/>
          </a:xfrm>
          <a:prstGeom prst="rect">
            <a:avLst/>
          </a:prstGeom>
          <a:noFill/>
        </p:spPr>
        <p:txBody>
          <a:bodyPr wrap="square" rtlCol="0">
            <a:spAutoFit/>
          </a:bodyPr>
          <a:lstStyle/>
          <a:p>
            <a:r>
              <a:rPr lang="en-IN" sz="3600" dirty="0"/>
              <a:t>Extend analysis with multi-year data and real-time weather forecasts to build predictive seasonal planning models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p:txBody>
          <a:bodyPr>
            <a:normAutofit/>
          </a:bodyPr>
          <a:lstStyle/>
          <a:p>
            <a:r>
              <a:rPr lang="en-IN" sz="3200" dirty="0"/>
              <a:t>VOIS Course completion certificate - </a:t>
            </a:r>
            <a:br>
              <a:rPr lang="en-IN" sz="3200" dirty="0"/>
            </a:br>
            <a:r>
              <a:rPr lang="en-IN" sz="3200" dirty="0"/>
              <a:t>Course name- Data Visualization </a:t>
            </a:r>
          </a:p>
        </p:txBody>
      </p:sp>
      <p:pic>
        <p:nvPicPr>
          <p:cNvPr id="6" name="Content Placeholder 5">
            <a:extLst>
              <a:ext uri="{FF2B5EF4-FFF2-40B4-BE49-F238E27FC236}">
                <a16:creationId xmlns:a16="http://schemas.microsoft.com/office/drawing/2014/main" id="{1592384F-EB65-ED23-36DB-9A6A0AF8F3C2}"/>
              </a:ext>
            </a:extLst>
          </p:cNvPr>
          <p:cNvPicPr>
            <a:picLocks noGrp="1" noChangeAspect="1"/>
          </p:cNvPicPr>
          <p:nvPr>
            <p:ph idx="1"/>
          </p:nvPr>
        </p:nvPicPr>
        <p:blipFill>
          <a:blip r:embed="rId3"/>
          <a:stretch>
            <a:fillRect/>
          </a:stretch>
        </p:blipFill>
        <p:spPr>
          <a:xfrm>
            <a:off x="1992762" y="1930400"/>
            <a:ext cx="7001948" cy="4423747"/>
          </a:xfrm>
          <a:prstGeom prst="rect">
            <a:avLst/>
          </a:prstGeom>
        </p:spPr>
      </p:pic>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731</TotalTime>
  <Words>342</Words>
  <Application>Microsoft Office PowerPoint</Application>
  <PresentationFormat>Widescreen</PresentationFormat>
  <Paragraphs>48</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Project Title -Seasonal Agriculture Performance Analysis</vt:lpstr>
      <vt:lpstr>PROBLEM  STATEMENT  . </vt:lpstr>
      <vt:lpstr>Project Description  This project analyses seasonal agricultural performance across Kharif, Rabi, and Zaid seasons using a 4,000-record farm dataset covering environmental conditions, farming inputs, and economic outcomes. It applies data cleaning, statistical testing, and visualization to uncover seasonal patterns and relationships, delivering data-driven recommendations for better agricultural planning.</vt:lpstr>
      <vt:lpstr>WHO ARE THE END USERS?</vt:lpstr>
      <vt:lpstr>Technology Used</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ABHISHEK VERMA</cp:lastModifiedBy>
  <cp:revision>99</cp:revision>
  <dcterms:created xsi:type="dcterms:W3CDTF">2021-07-11T13:13:15Z</dcterms:created>
  <dcterms:modified xsi:type="dcterms:W3CDTF">2026-09-05T18:35:52Z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